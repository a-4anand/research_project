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753600" cy="7315200"/>
  <p:notesSz cx="6858000" cy="9144000"/>
  <p:embeddedFontLs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Calibri (MS) Bold" charset="1" panose="020F0702030404030204"/>
      <p:regular r:id="rId22"/>
    </p:embeddedFont>
    <p:embeddedFont>
      <p:font typeface="Times New Roman" charset="1" panose="02030502070405020303"/>
      <p:regular r:id="rId23"/>
    </p:embeddedFont>
    <p:embeddedFont>
      <p:font typeface="Times New Roman Bold" charset="1" panose="02030802070405020303"/>
      <p:regular r:id="rId25"/>
    </p:embeddedFont>
    <p:embeddedFont>
      <p:font typeface="Calibri (MS)" charset="1" panose="020F0502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2" y="61627"/>
            <a:ext cx="9773984" cy="1515999"/>
          </a:xfrm>
          <a:custGeom>
            <a:avLst/>
            <a:gdLst/>
            <a:ahLst/>
            <a:cxnLst/>
            <a:rect r="r" b="b" t="t" l="l"/>
            <a:pathLst>
              <a:path h="1515999" w="9773984">
                <a:moveTo>
                  <a:pt x="0" y="0"/>
                </a:moveTo>
                <a:lnTo>
                  <a:pt x="9773984" y="0"/>
                </a:lnTo>
                <a:lnTo>
                  <a:pt x="9773984" y="1515999"/>
                </a:lnTo>
                <a:lnTo>
                  <a:pt x="0" y="1515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" y="0"/>
            <a:ext cx="9753601" cy="1677829"/>
            <a:chOff x="0" y="0"/>
            <a:chExt cx="13004801" cy="22371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2237105"/>
            </a:xfrm>
            <a:custGeom>
              <a:avLst/>
              <a:gdLst/>
              <a:ahLst/>
              <a:cxnLst/>
              <a:rect r="r" b="b" t="t" l="l"/>
              <a:pathLst>
                <a:path h="2237105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619885"/>
                  </a:lnTo>
                  <a:cubicBezTo>
                    <a:pt x="6502400" y="1619885"/>
                    <a:pt x="6502400" y="2237105"/>
                    <a:pt x="13004800" y="1886458"/>
                  </a:cubicBezTo>
                  <a:close/>
                </a:path>
              </a:pathLst>
            </a:custGeom>
            <a:solidFill>
              <a:srgbClr val="0B5394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1920" y="6304400"/>
            <a:ext cx="9785795" cy="1020985"/>
          </a:xfrm>
          <a:custGeom>
            <a:avLst/>
            <a:gdLst/>
            <a:ahLst/>
            <a:cxnLst/>
            <a:rect r="r" b="b" t="t" l="l"/>
            <a:pathLst>
              <a:path h="1020985" w="9785795">
                <a:moveTo>
                  <a:pt x="0" y="0"/>
                </a:moveTo>
                <a:lnTo>
                  <a:pt x="9785795" y="0"/>
                </a:lnTo>
                <a:lnTo>
                  <a:pt x="9785795" y="1020985"/>
                </a:lnTo>
                <a:lnTo>
                  <a:pt x="0" y="1020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52" y="6396460"/>
            <a:ext cx="3627390" cy="827315"/>
            <a:chOff x="0" y="0"/>
            <a:chExt cx="4836520" cy="1103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6520" cy="1103087"/>
            </a:xfrm>
            <a:custGeom>
              <a:avLst/>
              <a:gdLst/>
              <a:ahLst/>
              <a:cxnLst/>
              <a:rect r="r" b="b" t="t" l="l"/>
              <a:pathLst>
                <a:path h="1103087" w="4836520">
                  <a:moveTo>
                    <a:pt x="0" y="0"/>
                  </a:moveTo>
                  <a:lnTo>
                    <a:pt x="4836520" y="0"/>
                  </a:lnTo>
                  <a:lnTo>
                    <a:pt x="4836520" y="1103087"/>
                  </a:lnTo>
                  <a:lnTo>
                    <a:pt x="0" y="1103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836520" cy="11126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Mission</a:t>
              </a:r>
            </a:p>
            <a:p>
              <a:pPr algn="ctr">
                <a:lnSpc>
                  <a:spcPts val="1406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University is a nurturing ground for an individual’s holistic development to make effective contribution to the society in a dynamic environment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047772" y="6396460"/>
            <a:ext cx="1983230" cy="510514"/>
            <a:chOff x="0" y="0"/>
            <a:chExt cx="2644307" cy="6806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44307" cy="680685"/>
            </a:xfrm>
            <a:custGeom>
              <a:avLst/>
              <a:gdLst/>
              <a:ahLst/>
              <a:cxnLst/>
              <a:rect r="r" b="b" t="t" l="l"/>
              <a:pathLst>
                <a:path h="680685" w="2644307">
                  <a:moveTo>
                    <a:pt x="0" y="0"/>
                  </a:moveTo>
                  <a:lnTo>
                    <a:pt x="2644307" y="0"/>
                  </a:lnTo>
                  <a:lnTo>
                    <a:pt x="2644307" y="680685"/>
                  </a:lnTo>
                  <a:lnTo>
                    <a:pt x="0" y="680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644307" cy="69021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Vision</a:t>
              </a:r>
            </a:p>
            <a:p>
              <a:pPr algn="ctr">
                <a:lnSpc>
                  <a:spcPts val="1406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63825" y="6396460"/>
            <a:ext cx="3000509" cy="827315"/>
            <a:chOff x="0" y="0"/>
            <a:chExt cx="4000679" cy="11030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00679" cy="1103087"/>
            </a:xfrm>
            <a:custGeom>
              <a:avLst/>
              <a:gdLst/>
              <a:ahLst/>
              <a:cxnLst/>
              <a:rect r="r" b="b" t="t" l="l"/>
              <a:pathLst>
                <a:path h="1103087" w="4000679">
                  <a:moveTo>
                    <a:pt x="0" y="0"/>
                  </a:moveTo>
                  <a:lnTo>
                    <a:pt x="4000679" y="0"/>
                  </a:lnTo>
                  <a:lnTo>
                    <a:pt x="4000679" y="1103087"/>
                  </a:lnTo>
                  <a:lnTo>
                    <a:pt x="0" y="1103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000679" cy="11126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Core Values</a:t>
              </a:r>
            </a:p>
            <a:p>
              <a:pPr algn="ctr">
                <a:lnSpc>
                  <a:spcPts val="1406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Faith in God |  Moral Uprightness</a:t>
              </a:r>
            </a:p>
            <a:p>
              <a:pPr algn="ctr">
                <a:lnSpc>
                  <a:spcPts val="1406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Love of Fellow Beings |  Social Responsibility | Pursuit of Excellence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44827" y="321360"/>
            <a:ext cx="2438505" cy="872214"/>
            <a:chOff x="0" y="0"/>
            <a:chExt cx="3251340" cy="11629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51327" cy="1162939"/>
            </a:xfrm>
            <a:custGeom>
              <a:avLst/>
              <a:gdLst/>
              <a:ahLst/>
              <a:cxnLst/>
              <a:rect r="r" b="b" t="t" l="l"/>
              <a:pathLst>
                <a:path h="1162939" w="3251327">
                  <a:moveTo>
                    <a:pt x="0" y="0"/>
                  </a:moveTo>
                  <a:lnTo>
                    <a:pt x="3251327" y="0"/>
                  </a:lnTo>
                  <a:lnTo>
                    <a:pt x="3251327" y="1162939"/>
                  </a:lnTo>
                  <a:lnTo>
                    <a:pt x="0" y="1162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4" r="0" b="-15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5532" y="2538006"/>
            <a:ext cx="8107710" cy="2110193"/>
            <a:chOff x="0" y="0"/>
            <a:chExt cx="10810280" cy="28135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10280" cy="2813591"/>
            </a:xfrm>
            <a:custGeom>
              <a:avLst/>
              <a:gdLst/>
              <a:ahLst/>
              <a:cxnLst/>
              <a:rect r="r" b="b" t="t" l="l"/>
              <a:pathLst>
                <a:path h="2813591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2813591"/>
                  </a:lnTo>
                  <a:lnTo>
                    <a:pt x="0" y="28135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810280" cy="285169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094"/>
                </a:lnSpc>
              </a:pPr>
              <a:r>
                <a:rPr lang="en-US" sz="36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Explainable AI for Rare Retinal Disease Classification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9199" y="4648199"/>
            <a:ext cx="7782693" cy="1935481"/>
            <a:chOff x="0" y="0"/>
            <a:chExt cx="10281940" cy="25570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81940" cy="2557020"/>
            </a:xfrm>
            <a:custGeom>
              <a:avLst/>
              <a:gdLst/>
              <a:ahLst/>
              <a:cxnLst/>
              <a:rect r="r" b="b" t="t" l="l"/>
              <a:pathLst>
                <a:path h="2557020" w="10281940">
                  <a:moveTo>
                    <a:pt x="0" y="0"/>
                  </a:moveTo>
                  <a:lnTo>
                    <a:pt x="10281940" y="0"/>
                  </a:lnTo>
                  <a:lnTo>
                    <a:pt x="10281940" y="2557020"/>
                  </a:lnTo>
                  <a:lnTo>
                    <a:pt x="0" y="255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281940" cy="26141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503"/>
                </a:lnSpc>
              </a:pPr>
              <a:r>
                <a:rPr lang="en-US" sz="20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Presented By</a:t>
              </a:r>
              <a:r>
                <a:rPr lang="en-US" sz="20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</a:p>
            <a:p>
              <a:pPr algn="ctr">
                <a:lnSpc>
                  <a:spcPts val="2503"/>
                </a:lnSpc>
              </a:pPr>
              <a:r>
                <a:rPr lang="en-US" sz="20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Anand Kumar Dubey</a:t>
              </a:r>
            </a:p>
            <a:p>
              <a:pPr algn="ctr">
                <a:lnSpc>
                  <a:spcPts val="2503"/>
                </a:lnSpc>
              </a:pPr>
              <a:r>
                <a:rPr lang="en-US" sz="20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23122005</a:t>
              </a:r>
            </a:p>
            <a:p>
              <a:pPr algn="ctr">
                <a:lnSpc>
                  <a:spcPts val="25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685132" y="3821913"/>
            <a:ext cx="4383435" cy="22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Using CNNs with SHAP and LIME for Interpretability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526559"/>
            <a:chOff x="0" y="0"/>
            <a:chExt cx="2443773" cy="702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702079"/>
            </a:xfrm>
            <a:custGeom>
              <a:avLst/>
              <a:gdLst/>
              <a:ahLst/>
              <a:cxnLst/>
              <a:rect r="r" b="b" t="t" l="l"/>
              <a:pathLst>
                <a:path h="702079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702079"/>
                  </a:lnTo>
                  <a:lnTo>
                    <a:pt x="0" y="702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7497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9091" y="402854"/>
            <a:ext cx="8107710" cy="659632"/>
            <a:chOff x="0" y="0"/>
            <a:chExt cx="10810280" cy="879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0280" cy="879510"/>
            </a:xfrm>
            <a:custGeom>
              <a:avLst/>
              <a:gdLst/>
              <a:ahLst/>
              <a:cxnLst/>
              <a:rect r="r" b="b" t="t" l="l"/>
              <a:pathLst>
                <a:path h="879510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879510"/>
                  </a:lnTo>
                  <a:lnTo>
                    <a:pt x="0" y="879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810280" cy="9461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094"/>
                </a:lnSpc>
              </a:pPr>
              <a:r>
                <a:rPr lang="en-US" sz="3413" b="true">
                  <a:solidFill>
                    <a:srgbClr val="66666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4166" y="1062486"/>
            <a:ext cx="4576764" cy="4823668"/>
            <a:chOff x="0" y="0"/>
            <a:chExt cx="6102352" cy="64315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02352" cy="6431558"/>
            </a:xfrm>
            <a:custGeom>
              <a:avLst/>
              <a:gdLst/>
              <a:ahLst/>
              <a:cxnLst/>
              <a:rect r="r" b="b" t="t" l="l"/>
              <a:pathLst>
                <a:path h="6431558" w="6102352">
                  <a:moveTo>
                    <a:pt x="0" y="0"/>
                  </a:moveTo>
                  <a:lnTo>
                    <a:pt x="6102352" y="0"/>
                  </a:lnTo>
                  <a:lnTo>
                    <a:pt x="6102352" y="6431558"/>
                  </a:lnTo>
                  <a:lnTo>
                    <a:pt x="0" y="6431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02352" cy="64696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Optical Coherence Tomography (OCT) is a key imaging technique for diagnosing retinal diseases.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Learning models, especially CNNs, can automate classification tasks but lack interpretability.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aims to classify OCT images and explain predictions using SHAP and LIME.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049674" y="1940916"/>
            <a:ext cx="3637127" cy="2723084"/>
          </a:xfrm>
          <a:custGeom>
            <a:avLst/>
            <a:gdLst/>
            <a:ahLst/>
            <a:cxnLst/>
            <a:rect r="r" b="b" t="t" l="l"/>
            <a:pathLst>
              <a:path h="2723084" w="3637127">
                <a:moveTo>
                  <a:pt x="0" y="0"/>
                </a:moveTo>
                <a:lnTo>
                  <a:pt x="3637127" y="0"/>
                </a:lnTo>
                <a:lnTo>
                  <a:pt x="3637127" y="2723084"/>
                </a:lnTo>
                <a:lnTo>
                  <a:pt x="0" y="27230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17684" y="399253"/>
            <a:ext cx="8107710" cy="1688334"/>
            <a:chOff x="0" y="0"/>
            <a:chExt cx="10810280" cy="22511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0280" cy="2251112"/>
            </a:xfrm>
            <a:custGeom>
              <a:avLst/>
              <a:gdLst/>
              <a:ahLst/>
              <a:cxnLst/>
              <a:rect r="r" b="b" t="t" l="l"/>
              <a:pathLst>
                <a:path h="2251112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2251112"/>
                  </a:lnTo>
                  <a:lnTo>
                    <a:pt x="0" y="22511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810280" cy="23177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  <a:r>
                <a:rPr lang="en-US" b="true" sz="3413">
                  <a:solidFill>
                    <a:srgbClr val="66666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</a:t>
              </a: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1289840"/>
            <a:ext cx="8365181" cy="4823668"/>
            <a:chOff x="0" y="0"/>
            <a:chExt cx="11153574" cy="64315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53574" cy="6431558"/>
            </a:xfrm>
            <a:custGeom>
              <a:avLst/>
              <a:gdLst/>
              <a:ahLst/>
              <a:cxnLst/>
              <a:rect r="r" b="b" t="t" l="l"/>
              <a:pathLst>
                <a:path h="6431558" w="11153574">
                  <a:moveTo>
                    <a:pt x="0" y="0"/>
                  </a:moveTo>
                  <a:lnTo>
                    <a:pt x="11153574" y="0"/>
                  </a:lnTo>
                  <a:lnTo>
                    <a:pt x="11153574" y="6431558"/>
                  </a:lnTo>
                  <a:lnTo>
                    <a:pt x="0" y="6431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153574" cy="64696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Source: Kermany et al. 2018 (Kaggle)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Categories: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CNV (Choroidal Neovascularization)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DME (Diabetic Macular Edema)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DRUSEN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</a:t>
              </a:r>
            </a:p>
            <a:p>
              <a:pPr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Split: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Train: 80%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Validation: 20%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Preprocessing: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Resized images to 128x128</a:t>
              </a:r>
            </a:p>
            <a:p>
              <a:pPr algn="l" marL="518160" indent="-259080" lvl="1">
                <a:lnSpc>
                  <a:spcPts val="28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augmentation: Rotation, zoom, flip</a:t>
              </a:r>
            </a:p>
            <a:p>
              <a:pPr algn="l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3280069" y="2794102"/>
            <a:ext cx="6010495" cy="1612943"/>
          </a:xfrm>
          <a:custGeom>
            <a:avLst/>
            <a:gdLst/>
            <a:ahLst/>
            <a:cxnLst/>
            <a:rect r="r" b="b" t="t" l="l"/>
            <a:pathLst>
              <a:path h="1612943" w="6010495">
                <a:moveTo>
                  <a:pt x="0" y="0"/>
                </a:moveTo>
                <a:lnTo>
                  <a:pt x="6010495" y="0"/>
                </a:lnTo>
                <a:lnTo>
                  <a:pt x="6010495" y="1612943"/>
                </a:lnTo>
                <a:lnTo>
                  <a:pt x="0" y="16129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1667" y="384771"/>
            <a:ext cx="8107710" cy="1688334"/>
            <a:chOff x="0" y="0"/>
            <a:chExt cx="10810280" cy="22511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0280" cy="2251112"/>
            </a:xfrm>
            <a:custGeom>
              <a:avLst/>
              <a:gdLst/>
              <a:ahLst/>
              <a:cxnLst/>
              <a:rect r="r" b="b" t="t" l="l"/>
              <a:pathLst>
                <a:path h="2251112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2251112"/>
                  </a:lnTo>
                  <a:lnTo>
                    <a:pt x="0" y="22511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810280" cy="23177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  <a:r>
                <a:rPr lang="en-US" sz="3413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Architecture</a:t>
              </a: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42256" y="4269611"/>
            <a:ext cx="6027338" cy="2102034"/>
          </a:xfrm>
          <a:custGeom>
            <a:avLst/>
            <a:gdLst/>
            <a:ahLst/>
            <a:cxnLst/>
            <a:rect r="r" b="b" t="t" l="l"/>
            <a:pathLst>
              <a:path h="2102034" w="6027338">
                <a:moveTo>
                  <a:pt x="0" y="0"/>
                </a:moveTo>
                <a:lnTo>
                  <a:pt x="6027338" y="0"/>
                </a:lnTo>
                <a:lnTo>
                  <a:pt x="6027338" y="2102034"/>
                </a:lnTo>
                <a:lnTo>
                  <a:pt x="0" y="21020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-1064174" y="1464248"/>
            <a:ext cx="11048765" cy="327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171" indent="-215585" lvl="1">
              <a:lnSpc>
                <a:spcPts val="2394"/>
              </a:lnSpc>
              <a:spcBef>
                <a:spcPct val="0"/>
              </a:spcBef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CNN with 3 C</a:t>
            </a: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onvolutional Blocks</a:t>
            </a:r>
          </a:p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b="true" sz="199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Layers:</a:t>
            </a:r>
          </a:p>
          <a:p>
            <a:pPr algn="ctr" marL="862342" indent="-287447" lvl="2">
              <a:lnSpc>
                <a:spcPts val="2394"/>
              </a:lnSpc>
              <a:spcBef>
                <a:spcPct val="0"/>
              </a:spcBef>
              <a:buFont typeface="Arial"/>
              <a:buChar char="⚬"/>
            </a:pP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Conv2D + ReLU + MaxPooling (32, 64, 128 filters)</a:t>
            </a:r>
          </a:p>
          <a:p>
            <a:pPr algn="ctr" marL="862342" indent="-287447" lvl="2">
              <a:lnSpc>
                <a:spcPts val="2394"/>
              </a:lnSpc>
              <a:spcBef>
                <a:spcPct val="0"/>
              </a:spcBef>
              <a:buFont typeface="Arial"/>
              <a:buChar char="⚬"/>
            </a:pP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Flatten + Dense (128 neurons)</a:t>
            </a:r>
          </a:p>
          <a:p>
            <a:pPr algn="ctr" marL="862342" indent="-287447" lvl="2">
              <a:lnSpc>
                <a:spcPts val="2394"/>
              </a:lnSpc>
              <a:spcBef>
                <a:spcPct val="0"/>
              </a:spcBef>
              <a:buFont typeface="Arial"/>
              <a:buChar char="⚬"/>
            </a:pP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Dropout (50%)</a:t>
            </a:r>
          </a:p>
          <a:p>
            <a:pPr algn="ctr" marL="862342" indent="-287447" lvl="2">
              <a:lnSpc>
                <a:spcPts val="2394"/>
              </a:lnSpc>
              <a:spcBef>
                <a:spcPct val="0"/>
              </a:spcBef>
              <a:buFont typeface="Arial"/>
              <a:buChar char="⚬"/>
            </a:pP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Output Layer: Softmax activation for multi-class classification</a:t>
            </a:r>
          </a:p>
          <a:p>
            <a:pPr algn="ctr" marL="431171" indent="-215585" lvl="1">
              <a:lnSpc>
                <a:spcPts val="2394"/>
              </a:lnSpc>
              <a:spcBef>
                <a:spcPct val="0"/>
              </a:spcBef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Optimizer: Adam (learning rate: 0.001)</a:t>
            </a:r>
          </a:p>
          <a:p>
            <a:pPr algn="ctr" marL="431171" indent="-215585" lvl="1">
              <a:lnSpc>
                <a:spcPts val="2394"/>
              </a:lnSpc>
              <a:spcBef>
                <a:spcPct val="0"/>
              </a:spcBef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Loss Function: Categorical Cross-Entropy</a:t>
            </a:r>
          </a:p>
          <a:p>
            <a:pPr algn="ctr" marL="431171" indent="-215585" lvl="1">
              <a:lnSpc>
                <a:spcPts val="2394"/>
              </a:lnSpc>
              <a:spcBef>
                <a:spcPct val="0"/>
              </a:spcBef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Metrics: Accuracy</a:t>
            </a:r>
          </a:p>
          <a:p>
            <a:pPr algn="ctr">
              <a:lnSpc>
                <a:spcPts val="2394"/>
              </a:lnSpc>
              <a:spcBef>
                <a:spcPct val="0"/>
              </a:spcBef>
            </a:pPr>
          </a:p>
          <a:p>
            <a:pPr algn="ctr">
              <a:lnSpc>
                <a:spcPts val="23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585019" y="629969"/>
            <a:ext cx="8107710" cy="1688334"/>
            <a:chOff x="0" y="0"/>
            <a:chExt cx="10810280" cy="22511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0280" cy="2251112"/>
            </a:xfrm>
            <a:custGeom>
              <a:avLst/>
              <a:gdLst/>
              <a:ahLst/>
              <a:cxnLst/>
              <a:rect r="r" b="b" t="t" l="l"/>
              <a:pathLst>
                <a:path h="2251112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2251112"/>
                  </a:lnTo>
                  <a:lnTo>
                    <a:pt x="0" y="22511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810280" cy="23177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  <a:r>
                <a:rPr lang="en-US" b="true" sz="3413">
                  <a:solidFill>
                    <a:srgbClr val="66666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Training Process</a:t>
              </a: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-1051803" y="1122222"/>
            <a:ext cx="6956025" cy="288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68186" indent="-234093" lvl="1">
              <a:lnSpc>
                <a:spcPts val="2600"/>
              </a:lnSpc>
              <a:buFont typeface="Arial"/>
              <a:buChar char="•"/>
            </a:pPr>
          </a:p>
          <a:p>
            <a:pPr algn="ctr" marL="468186" indent="-234093" lvl="1">
              <a:lnSpc>
                <a:spcPts val="2600"/>
              </a:lnSpc>
              <a:buFont typeface="Arial"/>
              <a:buChar char="•"/>
            </a:pPr>
            <a:r>
              <a:rPr lang="en-US" sz="21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Augmentation Applied:</a:t>
            </a:r>
          </a:p>
          <a:p>
            <a:pPr algn="ctr" marL="468186" indent="-234093" lvl="1">
              <a:lnSpc>
                <a:spcPts val="2600"/>
              </a:lnSpc>
              <a:buFont typeface="Arial"/>
              <a:buChar char="•"/>
            </a:pPr>
            <a:r>
              <a:rPr lang="en-US" sz="21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Rotation: 20°</a:t>
            </a:r>
          </a:p>
          <a:p>
            <a:pPr algn="ctr" marL="468186" indent="-234093" lvl="1">
              <a:lnSpc>
                <a:spcPts val="2600"/>
              </a:lnSpc>
              <a:buFont typeface="Arial"/>
              <a:buChar char="•"/>
            </a:pPr>
            <a:r>
              <a:rPr lang="en-US" sz="21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Width &amp; Height Shifts: 20%</a:t>
            </a:r>
          </a:p>
          <a:p>
            <a:pPr algn="ctr" marL="468186" indent="-234093" lvl="1">
              <a:lnSpc>
                <a:spcPts val="2600"/>
              </a:lnSpc>
              <a:buFont typeface="Arial"/>
              <a:buChar char="•"/>
            </a:pPr>
            <a:r>
              <a:rPr lang="en-US" sz="21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Zoom: 20%</a:t>
            </a:r>
          </a:p>
          <a:p>
            <a:pPr algn="ctr" marL="468186" indent="-234093" lvl="1">
              <a:lnSpc>
                <a:spcPts val="2600"/>
              </a:lnSpc>
              <a:buFont typeface="Arial"/>
              <a:buChar char="•"/>
            </a:pPr>
            <a:r>
              <a:rPr lang="en-US" sz="21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Horizontal Flip</a:t>
            </a:r>
          </a:p>
          <a:p>
            <a:pPr algn="ctr" marL="468186" indent="-234093" lvl="1">
              <a:lnSpc>
                <a:spcPts val="2600"/>
              </a:lnSpc>
              <a:buFont typeface="Arial"/>
              <a:buChar char="•"/>
            </a:pPr>
            <a:r>
              <a:rPr lang="en-US" sz="21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Training Details:</a:t>
            </a:r>
          </a:p>
          <a:p>
            <a:pPr algn="ctr" marL="468186" indent="-234093" lvl="1">
              <a:lnSpc>
                <a:spcPts val="2600"/>
              </a:lnSpc>
              <a:buFont typeface="Arial"/>
              <a:buChar char="•"/>
            </a:pPr>
          </a:p>
          <a:p>
            <a:pPr algn="ctr">
              <a:lnSpc>
                <a:spcPts val="2601"/>
              </a:lnSpc>
              <a:spcBef>
                <a:spcPct val="0"/>
              </a:spcBef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577259" y="1531542"/>
            <a:ext cx="4585064" cy="2842740"/>
          </a:xfrm>
          <a:custGeom>
            <a:avLst/>
            <a:gdLst/>
            <a:ahLst/>
            <a:cxnLst/>
            <a:rect r="r" b="b" t="t" l="l"/>
            <a:pathLst>
              <a:path h="2842740" w="4585064">
                <a:moveTo>
                  <a:pt x="0" y="0"/>
                </a:moveTo>
                <a:lnTo>
                  <a:pt x="4585064" y="0"/>
                </a:lnTo>
                <a:lnTo>
                  <a:pt x="4585064" y="2842740"/>
                </a:lnTo>
                <a:lnTo>
                  <a:pt x="0" y="28427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46646" y="4506760"/>
            <a:ext cx="2538740" cy="1890551"/>
          </a:xfrm>
          <a:custGeom>
            <a:avLst/>
            <a:gdLst/>
            <a:ahLst/>
            <a:cxnLst/>
            <a:rect r="r" b="b" t="t" l="l"/>
            <a:pathLst>
              <a:path h="1890551" w="2538740">
                <a:moveTo>
                  <a:pt x="0" y="0"/>
                </a:moveTo>
                <a:lnTo>
                  <a:pt x="2538740" y="0"/>
                </a:lnTo>
                <a:lnTo>
                  <a:pt x="2538740" y="1890551"/>
                </a:lnTo>
                <a:lnTo>
                  <a:pt x="0" y="18905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063158" y="4775611"/>
            <a:ext cx="3586582" cy="154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0846" indent="-280423" lvl="1">
              <a:lnSpc>
                <a:spcPts val="3114"/>
              </a:lnSpc>
              <a:spcBef>
                <a:spcPct val="0"/>
              </a:spcBef>
              <a:buFont typeface="Arial"/>
              <a:buChar char="•"/>
            </a:pPr>
            <a:r>
              <a:rPr lang="en-US" sz="25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Ep</a:t>
            </a:r>
            <a:r>
              <a:rPr lang="en-US" sz="25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ochs: 20</a:t>
            </a:r>
          </a:p>
          <a:p>
            <a:pPr algn="ctr" marL="560846" indent="-280423" lvl="1">
              <a:lnSpc>
                <a:spcPts val="3114"/>
              </a:lnSpc>
              <a:spcBef>
                <a:spcPct val="0"/>
              </a:spcBef>
              <a:buFont typeface="Arial"/>
              <a:buChar char="•"/>
            </a:pPr>
            <a:r>
              <a:rPr lang="en-US" sz="25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Batch Size: 32</a:t>
            </a:r>
          </a:p>
          <a:p>
            <a:pPr algn="ctr" marL="560846" indent="-280423" lvl="1">
              <a:lnSpc>
                <a:spcPts val="3114"/>
              </a:lnSpc>
              <a:spcBef>
                <a:spcPct val="0"/>
              </a:spcBef>
              <a:buFont typeface="Arial"/>
              <a:buChar char="•"/>
            </a:pPr>
            <a:r>
              <a:rPr lang="en-US" sz="25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Validation Split: 20%</a:t>
            </a:r>
          </a:p>
          <a:p>
            <a:pPr algn="ctr">
              <a:lnSpc>
                <a:spcPts val="31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1433158" y="399253"/>
            <a:ext cx="8107710" cy="1688334"/>
            <a:chOff x="0" y="0"/>
            <a:chExt cx="10810280" cy="22511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0280" cy="2251112"/>
            </a:xfrm>
            <a:custGeom>
              <a:avLst/>
              <a:gdLst/>
              <a:ahLst/>
              <a:cxnLst/>
              <a:rect r="r" b="b" t="t" l="l"/>
              <a:pathLst>
                <a:path h="2251112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2251112"/>
                  </a:lnTo>
                  <a:lnTo>
                    <a:pt x="0" y="22511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810280" cy="23177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  <a:r>
                <a:rPr lang="en-US" b="true" sz="3413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Evaluation</a:t>
              </a: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863131" y="2569431"/>
            <a:ext cx="6027338" cy="3412980"/>
          </a:xfrm>
          <a:custGeom>
            <a:avLst/>
            <a:gdLst/>
            <a:ahLst/>
            <a:cxnLst/>
            <a:rect r="r" b="b" t="t" l="l"/>
            <a:pathLst>
              <a:path h="3412980" w="6027338">
                <a:moveTo>
                  <a:pt x="0" y="0"/>
                </a:moveTo>
                <a:lnTo>
                  <a:pt x="6027338" y="0"/>
                </a:lnTo>
                <a:lnTo>
                  <a:pt x="6027338" y="3412980"/>
                </a:lnTo>
                <a:lnTo>
                  <a:pt x="0" y="34129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204477" y="3538500"/>
            <a:ext cx="1675879" cy="22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Your paragraph text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3272" y="1667155"/>
            <a:ext cx="4241106" cy="69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5"/>
              </a:lnSpc>
              <a:spcBef>
                <a:spcPct val="0"/>
              </a:spcBef>
            </a:pPr>
            <a:r>
              <a:rPr lang="en-US" sz="23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Training: 90.34%</a:t>
            </a:r>
          </a:p>
          <a:p>
            <a:pPr algn="ctr">
              <a:lnSpc>
                <a:spcPts val="2765"/>
              </a:lnSpc>
              <a:spcBef>
                <a:spcPct val="0"/>
              </a:spcBef>
            </a:pPr>
            <a:r>
              <a:rPr lang="en-US" sz="23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Training Loss: 0.2741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59992" y="1649531"/>
            <a:ext cx="3725981" cy="70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2304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Validation Accuracy: 90.71%</a:t>
            </a:r>
          </a:p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2304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Validation Loss: 0.2701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708944" y="384771"/>
            <a:ext cx="8107710" cy="2717212"/>
            <a:chOff x="0" y="0"/>
            <a:chExt cx="10810280" cy="36229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0280" cy="3622949"/>
            </a:xfrm>
            <a:custGeom>
              <a:avLst/>
              <a:gdLst/>
              <a:ahLst/>
              <a:cxnLst/>
              <a:rect r="r" b="b" t="t" l="l"/>
              <a:pathLst>
                <a:path h="3622949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3622949"/>
                  </a:lnTo>
                  <a:lnTo>
                    <a:pt x="0" y="3622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810280" cy="368962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092"/>
                </a:lnSpc>
              </a:pPr>
              <a:r>
                <a:rPr lang="en-US" sz="3413" b="true">
                  <a:solidFill>
                    <a:srgbClr val="66666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Prediction Pipeline</a:t>
              </a:r>
            </a:p>
            <a:p>
              <a:pPr algn="ctr" marL="736867" indent="-368434" lvl="1">
                <a:lnSpc>
                  <a:spcPts val="4092"/>
                </a:lnSpc>
                <a:buFont typeface="Arial"/>
                <a:buChar char="•"/>
              </a:pP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40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31520" y="4824658"/>
            <a:ext cx="5364575" cy="1393822"/>
          </a:xfrm>
          <a:custGeom>
            <a:avLst/>
            <a:gdLst/>
            <a:ahLst/>
            <a:cxnLst/>
            <a:rect r="r" b="b" t="t" l="l"/>
            <a:pathLst>
              <a:path h="1393822" w="5364575">
                <a:moveTo>
                  <a:pt x="0" y="0"/>
                </a:moveTo>
                <a:lnTo>
                  <a:pt x="5364575" y="0"/>
                </a:lnTo>
                <a:lnTo>
                  <a:pt x="5364575" y="1393822"/>
                </a:lnTo>
                <a:lnTo>
                  <a:pt x="0" y="1393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2354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54915" y="1367949"/>
            <a:ext cx="4986338" cy="21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21305" indent="-260652" lvl="1">
              <a:lnSpc>
                <a:spcPts val="2895"/>
              </a:lnSpc>
              <a:buFont typeface="Arial"/>
              <a:buChar char="•"/>
            </a:pPr>
            <a:r>
              <a:rPr lang="en-US" b="true" sz="241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Steps:</a:t>
            </a:r>
          </a:p>
          <a:p>
            <a:pPr algn="ctr" marL="521305" indent="-260652" lvl="1">
              <a:lnSpc>
                <a:spcPts val="2895"/>
              </a:lnSpc>
              <a:buAutoNum type="arabicPeriod" startAt="1"/>
            </a:pPr>
            <a:r>
              <a:rPr lang="en-US" sz="241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Load image</a:t>
            </a:r>
          </a:p>
          <a:p>
            <a:pPr algn="ctr" marL="521305" indent="-260652" lvl="1">
              <a:lnSpc>
                <a:spcPts val="2895"/>
              </a:lnSpc>
              <a:spcBef>
                <a:spcPct val="0"/>
              </a:spcBef>
              <a:buAutoNum type="arabicPeriod" startAt="1"/>
            </a:pPr>
            <a:r>
              <a:rPr lang="en-US" sz="241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Preprocess (resize, n</a:t>
            </a:r>
            <a:r>
              <a:rPr lang="en-US" sz="241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ormalize)</a:t>
            </a:r>
          </a:p>
          <a:p>
            <a:pPr algn="ctr" marL="521305" indent="-260652" lvl="1">
              <a:lnSpc>
                <a:spcPts val="2895"/>
              </a:lnSpc>
              <a:spcBef>
                <a:spcPct val="0"/>
              </a:spcBef>
              <a:buAutoNum type="arabicPeriod" startAt="1"/>
            </a:pPr>
            <a:r>
              <a:rPr lang="en-US" sz="241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Predict using the trained model</a:t>
            </a:r>
          </a:p>
          <a:p>
            <a:pPr algn="ctr" marL="521305" indent="-260652" lvl="1">
              <a:lnSpc>
                <a:spcPts val="2895"/>
              </a:lnSpc>
              <a:spcBef>
                <a:spcPct val="0"/>
              </a:spcBef>
              <a:buAutoNum type="arabicPeriod" startAt="1"/>
            </a:pPr>
            <a:r>
              <a:rPr lang="en-US" sz="241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Get class with highest probability</a:t>
            </a:r>
          </a:p>
          <a:p>
            <a:pPr algn="ctr">
              <a:lnSpc>
                <a:spcPts val="2896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95948" y="3648954"/>
            <a:ext cx="7990061" cy="666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1/1 ━━━━━━━━━━━━━━━━━━━━ 0s 49ms/step</a:t>
            </a:r>
          </a:p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Predicted Class: DME, Confidence: 99.91%</a:t>
            </a:r>
          </a:p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Prediction Distribution: [[7.8054040e-04 9.9913651e-01 6.0557413e-05 2.2508448e-05]]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226926" y="473789"/>
            <a:ext cx="8107710" cy="1760698"/>
            <a:chOff x="0" y="0"/>
            <a:chExt cx="10810280" cy="23475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0280" cy="2347597"/>
            </a:xfrm>
            <a:custGeom>
              <a:avLst/>
              <a:gdLst/>
              <a:ahLst/>
              <a:cxnLst/>
              <a:rect r="r" b="b" t="t" l="l"/>
              <a:pathLst>
                <a:path h="2347597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2347597"/>
                  </a:lnTo>
                  <a:lnTo>
                    <a:pt x="0" y="2347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0810280" cy="2423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4454"/>
                </a:lnSpc>
                <a:spcBef>
                  <a:spcPct val="0"/>
                </a:spcBef>
              </a:pPr>
              <a:r>
                <a:rPr lang="en-US" b="true" sz="3712">
                  <a:solidFill>
                    <a:srgbClr val="66666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Explainability with SHAP</a:t>
              </a:r>
            </a:p>
            <a:p>
              <a:pPr algn="ctr" marL="0" indent="0" lvl="0">
                <a:lnSpc>
                  <a:spcPts val="44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13260" y="3894614"/>
            <a:ext cx="7964990" cy="2419366"/>
          </a:xfrm>
          <a:custGeom>
            <a:avLst/>
            <a:gdLst/>
            <a:ahLst/>
            <a:cxnLst/>
            <a:rect r="r" b="b" t="t" l="l"/>
            <a:pathLst>
              <a:path h="2419366" w="7964990">
                <a:moveTo>
                  <a:pt x="0" y="0"/>
                </a:moveTo>
                <a:lnTo>
                  <a:pt x="7964990" y="0"/>
                </a:lnTo>
                <a:lnTo>
                  <a:pt x="7964990" y="2419365"/>
                </a:lnTo>
                <a:lnTo>
                  <a:pt x="0" y="24193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16707" y="1948611"/>
            <a:ext cx="1764118" cy="1708989"/>
          </a:xfrm>
          <a:custGeom>
            <a:avLst/>
            <a:gdLst/>
            <a:ahLst/>
            <a:cxnLst/>
            <a:rect r="r" b="b" t="t" l="l"/>
            <a:pathLst>
              <a:path h="1708989" w="1764118">
                <a:moveTo>
                  <a:pt x="0" y="0"/>
                </a:moveTo>
                <a:lnTo>
                  <a:pt x="1764118" y="0"/>
                </a:lnTo>
                <a:lnTo>
                  <a:pt x="1764118" y="1708989"/>
                </a:lnTo>
                <a:lnTo>
                  <a:pt x="0" y="17089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10509" y="1672553"/>
            <a:ext cx="4935803" cy="93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5"/>
              </a:lnSpc>
              <a:spcBef>
                <a:spcPct val="0"/>
              </a:spcBef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SHAP (SHapley Additive exPlanations)</a:t>
            </a:r>
          </a:p>
          <a:p>
            <a:pPr algn="ctr">
              <a:lnSpc>
                <a:spcPts val="1895"/>
              </a:lnSpc>
              <a:spcBef>
                <a:spcPct val="0"/>
              </a:spcBef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Explains model decisions by calculating feature importance</a:t>
            </a:r>
          </a:p>
          <a:p>
            <a:pPr algn="ctr">
              <a:lnSpc>
                <a:spcPts val="1895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60194" y="2676206"/>
            <a:ext cx="5402374" cy="87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4"/>
              </a:lnSpc>
            </a:pPr>
            <a:r>
              <a:rPr lang="en-US" sz="147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Uses a blur mask to generate importance maps</a:t>
            </a:r>
          </a:p>
          <a:p>
            <a:pPr algn="ctr">
              <a:lnSpc>
                <a:spcPts val="1764"/>
              </a:lnSpc>
            </a:pPr>
            <a:r>
              <a:rPr lang="en-US" sz="147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SHAP Visualization:</a:t>
            </a:r>
          </a:p>
          <a:p>
            <a:pPr algn="ctr">
              <a:lnSpc>
                <a:spcPts val="1764"/>
              </a:lnSpc>
            </a:pPr>
            <a:r>
              <a:rPr lang="en-US" sz="147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Shows which parts of an image contributed most to the prediction</a:t>
            </a:r>
          </a:p>
          <a:p>
            <a:pPr algn="ctr">
              <a:lnSpc>
                <a:spcPts val="1765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879468" y="1562978"/>
            <a:ext cx="1001316" cy="22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Input Image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226926" y="473789"/>
            <a:ext cx="8107710" cy="1760698"/>
            <a:chOff x="0" y="0"/>
            <a:chExt cx="10810280" cy="23475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0280" cy="2347597"/>
            </a:xfrm>
            <a:custGeom>
              <a:avLst/>
              <a:gdLst/>
              <a:ahLst/>
              <a:cxnLst/>
              <a:rect r="r" b="b" t="t" l="l"/>
              <a:pathLst>
                <a:path h="2347597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2347597"/>
                  </a:lnTo>
                  <a:lnTo>
                    <a:pt x="0" y="2347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0810280" cy="2423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4454"/>
                </a:lnSpc>
                <a:spcBef>
                  <a:spcPct val="0"/>
                </a:spcBef>
              </a:pPr>
              <a:r>
                <a:rPr lang="en-US" b="true" sz="3712">
                  <a:solidFill>
                    <a:srgbClr val="66666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Explainability with LIME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516707" y="1948611"/>
            <a:ext cx="1764118" cy="1708989"/>
          </a:xfrm>
          <a:custGeom>
            <a:avLst/>
            <a:gdLst/>
            <a:ahLst/>
            <a:cxnLst/>
            <a:rect r="r" b="b" t="t" l="l"/>
            <a:pathLst>
              <a:path h="1708989" w="1764118">
                <a:moveTo>
                  <a:pt x="0" y="0"/>
                </a:moveTo>
                <a:lnTo>
                  <a:pt x="1764118" y="0"/>
                </a:lnTo>
                <a:lnTo>
                  <a:pt x="1764118" y="1708989"/>
                </a:lnTo>
                <a:lnTo>
                  <a:pt x="0" y="17089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97838" y="3187119"/>
            <a:ext cx="2753797" cy="2887940"/>
          </a:xfrm>
          <a:custGeom>
            <a:avLst/>
            <a:gdLst/>
            <a:ahLst/>
            <a:cxnLst/>
            <a:rect r="r" b="b" t="t" l="l"/>
            <a:pathLst>
              <a:path h="2887940" w="2753797">
                <a:moveTo>
                  <a:pt x="0" y="0"/>
                </a:moveTo>
                <a:lnTo>
                  <a:pt x="2753797" y="0"/>
                </a:lnTo>
                <a:lnTo>
                  <a:pt x="2753797" y="2887940"/>
                </a:lnTo>
                <a:lnTo>
                  <a:pt x="0" y="28879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364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879468" y="1562978"/>
            <a:ext cx="1001316" cy="22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Input Image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0253" y="2224962"/>
            <a:ext cx="5655171" cy="88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LIME (L</a:t>
            </a: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ocal Interpretable Model-agnostic Explanations)</a:t>
            </a:r>
          </a:p>
          <a:p>
            <a:pPr algn="ctr" marL="322339" indent="-161170" lvl="1">
              <a:lnSpc>
                <a:spcPts val="1790"/>
              </a:lnSpc>
              <a:spcBef>
                <a:spcPct val="0"/>
              </a:spcBef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Generates perturbed images &amp; analyzes changes in predictions</a:t>
            </a:r>
          </a:p>
          <a:p>
            <a:pPr algn="ctr" marL="322339" indent="-161170" lvl="1">
              <a:lnSpc>
                <a:spcPts val="1790"/>
              </a:lnSpc>
              <a:spcBef>
                <a:spcPct val="0"/>
              </a:spcBef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Highlights most important image regions for classification</a:t>
            </a:r>
          </a:p>
          <a:p>
            <a:pPr algn="ctr">
              <a:lnSpc>
                <a:spcPts val="1791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4719197" y="4361860"/>
            <a:ext cx="2753797" cy="110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LIME Visualizati</a:t>
            </a: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on:</a:t>
            </a:r>
          </a:p>
          <a:p>
            <a:pPr algn="ctr" marL="322339" indent="-161170" lvl="1">
              <a:lnSpc>
                <a:spcPts val="1790"/>
              </a:lnSpc>
              <a:spcBef>
                <a:spcPct val="0"/>
              </a:spcBef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Displays superpixel regions that impact model predictions</a:t>
            </a:r>
          </a:p>
          <a:p>
            <a:pPr algn="ctr">
              <a:lnSpc>
                <a:spcPts val="17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226926" y="473789"/>
            <a:ext cx="8107710" cy="1760698"/>
            <a:chOff x="0" y="0"/>
            <a:chExt cx="10810280" cy="23475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0280" cy="2347597"/>
            </a:xfrm>
            <a:custGeom>
              <a:avLst/>
              <a:gdLst/>
              <a:ahLst/>
              <a:cxnLst/>
              <a:rect r="r" b="b" t="t" l="l"/>
              <a:pathLst>
                <a:path h="2347597" w="10810280">
                  <a:moveTo>
                    <a:pt x="0" y="0"/>
                  </a:moveTo>
                  <a:lnTo>
                    <a:pt x="10810280" y="0"/>
                  </a:lnTo>
                  <a:lnTo>
                    <a:pt x="10810280" y="2347597"/>
                  </a:lnTo>
                  <a:lnTo>
                    <a:pt x="0" y="2347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0810280" cy="2423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4454"/>
                </a:lnSpc>
                <a:spcBef>
                  <a:spcPct val="0"/>
                </a:spcBef>
              </a:pPr>
              <a:r>
                <a:rPr lang="en-US" b="true" sz="3712">
                  <a:solidFill>
                    <a:srgbClr val="66666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Findings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-357068" y="1714545"/>
            <a:ext cx="9859456" cy="401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7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Model Performance</a:t>
            </a:r>
          </a:p>
          <a:p>
            <a:pPr algn="ctr" marL="382700" indent="-191350" lvl="1">
              <a:lnSpc>
                <a:spcPts val="2125"/>
              </a:lnSpc>
              <a:buFont typeface="Arial"/>
              <a:buChar char="•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Validation Accuracy: 92.56%</a:t>
            </a:r>
          </a:p>
          <a:p>
            <a:pPr algn="ctr" marL="382700" indent="-191350" lvl="1">
              <a:lnSpc>
                <a:spcPts val="2125"/>
              </a:lnSpc>
              <a:spcBef>
                <a:spcPct val="0"/>
              </a:spcBef>
              <a:buFont typeface="Arial"/>
              <a:buChar char="•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Validation L</a:t>
            </a: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oss: 0.227</a:t>
            </a:r>
          </a:p>
          <a:p>
            <a:pPr algn="ctr" marL="382700" indent="-191350" lvl="1">
              <a:lnSpc>
                <a:spcPts val="2125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2125"/>
              </a:lnSpc>
              <a:spcBef>
                <a:spcPct val="0"/>
              </a:spcBef>
            </a:pPr>
            <a:r>
              <a:rPr lang="en-US" b="true" sz="177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Evaluation Metrics</a:t>
            </a:r>
          </a:p>
          <a:p>
            <a:pPr algn="ctr" marL="382700" indent="-191350" lvl="1">
              <a:lnSpc>
                <a:spcPts val="2125"/>
              </a:lnSpc>
              <a:spcBef>
                <a:spcPct val="0"/>
              </a:spcBef>
              <a:buFont typeface="Arial"/>
              <a:buChar char="•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model shows high accuracy and low loss on the validation set, indicating effective training.</a:t>
            </a:r>
          </a:p>
          <a:p>
            <a:pPr algn="ctr" marL="382700" indent="-191350" lvl="1">
              <a:lnSpc>
                <a:spcPts val="2125"/>
              </a:lnSpc>
              <a:spcBef>
                <a:spcPct val="0"/>
              </a:spcBef>
              <a:buFont typeface="Arial"/>
              <a:buChar char="•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Minimal overfitting observed.</a:t>
            </a:r>
          </a:p>
          <a:p>
            <a:pPr algn="ctr" marL="382700" indent="-191350" lvl="1">
              <a:lnSpc>
                <a:spcPts val="2125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2125"/>
              </a:lnSpc>
              <a:spcBef>
                <a:spcPct val="0"/>
              </a:spcBef>
            </a:pPr>
            <a:r>
              <a:rPr lang="en-US" b="true" sz="177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Performance Insights</a:t>
            </a:r>
          </a:p>
          <a:p>
            <a:pPr algn="ctr" marL="382700" indent="-191350" lvl="1">
              <a:lnSpc>
                <a:spcPts val="2125"/>
              </a:lnSpc>
              <a:spcBef>
                <a:spcPct val="0"/>
              </a:spcBef>
              <a:buFont typeface="Arial"/>
              <a:buChar char="•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Consistent improvement in accuracy and loss throughout training.</a:t>
            </a:r>
          </a:p>
          <a:p>
            <a:pPr algn="ctr" marL="382700" indent="-191350" lvl="1">
              <a:lnSpc>
                <a:spcPts val="2125"/>
              </a:lnSpc>
              <a:spcBef>
                <a:spcPct val="0"/>
              </a:spcBef>
              <a:buFont typeface="Arial"/>
              <a:buChar char="•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Confusion Matrix reveals some misclassifications in specific classes (e.g., DRUSEN).</a:t>
            </a:r>
          </a:p>
          <a:p>
            <a:pPr algn="ctr" marL="382700" indent="-191350" lvl="1">
              <a:lnSpc>
                <a:spcPts val="2125"/>
              </a:lnSpc>
              <a:spcBef>
                <a:spcPct val="0"/>
              </a:spcBef>
              <a:buFont typeface="Arial"/>
              <a:buChar char="•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Possible Improvements:</a:t>
            </a:r>
          </a:p>
          <a:p>
            <a:pPr algn="ctr" marL="765400" indent="-255133" lvl="2">
              <a:lnSpc>
                <a:spcPts val="2125"/>
              </a:lnSpc>
              <a:spcBef>
                <a:spcPct val="0"/>
              </a:spcBef>
              <a:buFont typeface="Arial"/>
              <a:buChar char="⚬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Further hyperparameter tuning.</a:t>
            </a:r>
          </a:p>
          <a:p>
            <a:pPr algn="ctr" marL="765400" indent="-255133" lvl="2">
              <a:lnSpc>
                <a:spcPts val="2125"/>
              </a:lnSpc>
              <a:spcBef>
                <a:spcPct val="0"/>
              </a:spcBef>
              <a:buFont typeface="Arial"/>
              <a:buChar char="⚬"/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Experiment with more data augmentation techniques.</a:t>
            </a:r>
          </a:p>
          <a:p>
            <a:pPr algn="ctr">
              <a:lnSpc>
                <a:spcPts val="21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20" y="6760799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2"/>
                </a:lnTo>
                <a:lnTo>
                  <a:pt x="0" y="56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57505" y="6941782"/>
            <a:ext cx="2438590" cy="135795"/>
            <a:chOff x="0" y="0"/>
            <a:chExt cx="3251453" cy="181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1453" cy="181060"/>
            </a:xfrm>
            <a:custGeom>
              <a:avLst/>
              <a:gdLst/>
              <a:ahLst/>
              <a:cxnLst/>
              <a:rect r="r" b="b" t="t" l="l"/>
              <a:pathLst>
                <a:path h="181060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181060"/>
                  </a:lnTo>
                  <a:lnTo>
                    <a:pt x="0" y="181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251453" cy="1905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98766" y="-9856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69558" y="139574"/>
            <a:ext cx="1832830" cy="334215"/>
            <a:chOff x="0" y="0"/>
            <a:chExt cx="2443773" cy="4456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3773" cy="445620"/>
            </a:xfrm>
            <a:custGeom>
              <a:avLst/>
              <a:gdLst/>
              <a:ahLst/>
              <a:cxnLst/>
              <a:rect r="r" b="b" t="t" l="l"/>
              <a:pathLst>
                <a:path h="44562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445620"/>
                  </a:lnTo>
                  <a:lnTo>
                    <a:pt x="0" y="44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43773" cy="493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1635" y="6760799"/>
            <a:ext cx="2438590" cy="316778"/>
            <a:chOff x="0" y="0"/>
            <a:chExt cx="3251453" cy="422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1453" cy="422371"/>
            </a:xfrm>
            <a:custGeom>
              <a:avLst/>
              <a:gdLst/>
              <a:ahLst/>
              <a:cxnLst/>
              <a:rect r="r" b="b" t="t" l="l"/>
              <a:pathLst>
                <a:path h="422371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22371"/>
                  </a:lnTo>
                  <a:lnTo>
                    <a:pt x="0" y="422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251453" cy="4318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98766" y="0"/>
            <a:ext cx="2374487" cy="675989"/>
          </a:xfrm>
          <a:custGeom>
            <a:avLst/>
            <a:gdLst/>
            <a:ahLst/>
            <a:cxnLst/>
            <a:rect r="r" b="b" t="t" l="l"/>
            <a:pathLst>
              <a:path h="675989" w="2374487">
                <a:moveTo>
                  <a:pt x="0" y="0"/>
                </a:moveTo>
                <a:lnTo>
                  <a:pt x="2374487" y="0"/>
                </a:lnTo>
                <a:lnTo>
                  <a:pt x="2374487" y="675989"/>
                </a:lnTo>
                <a:lnTo>
                  <a:pt x="0" y="675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542" y="-10227"/>
            <a:ext cx="9785795" cy="409480"/>
          </a:xfrm>
          <a:custGeom>
            <a:avLst/>
            <a:gdLst/>
            <a:ahLst/>
            <a:cxnLst/>
            <a:rect r="r" b="b" t="t" l="l"/>
            <a:pathLst>
              <a:path h="409480" w="9785795">
                <a:moveTo>
                  <a:pt x="0" y="0"/>
                </a:moveTo>
                <a:lnTo>
                  <a:pt x="9785795" y="0"/>
                </a:lnTo>
                <a:lnTo>
                  <a:pt x="9785795" y="409480"/>
                </a:lnTo>
                <a:lnTo>
                  <a:pt x="0" y="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1920" y="6727358"/>
            <a:ext cx="9785699" cy="564642"/>
          </a:xfrm>
          <a:custGeom>
            <a:avLst/>
            <a:gdLst/>
            <a:ahLst/>
            <a:cxnLst/>
            <a:rect r="r" b="b" t="t" l="l"/>
            <a:pathLst>
              <a:path h="564642" w="9785699">
                <a:moveTo>
                  <a:pt x="0" y="0"/>
                </a:moveTo>
                <a:lnTo>
                  <a:pt x="9785699" y="0"/>
                </a:lnTo>
                <a:lnTo>
                  <a:pt x="9785699" y="564643"/>
                </a:lnTo>
                <a:lnTo>
                  <a:pt x="0" y="56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657505" y="6941782"/>
            <a:ext cx="2438590" cy="350219"/>
            <a:chOff x="0" y="0"/>
            <a:chExt cx="3251453" cy="4669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51453" cy="466958"/>
            </a:xfrm>
            <a:custGeom>
              <a:avLst/>
              <a:gdLst/>
              <a:ahLst/>
              <a:cxnLst/>
              <a:rect r="r" b="b" t="t" l="l"/>
              <a:pathLst>
                <a:path h="466958" w="3251453">
                  <a:moveTo>
                    <a:pt x="0" y="0"/>
                  </a:moveTo>
                  <a:lnTo>
                    <a:pt x="3251453" y="0"/>
                  </a:lnTo>
                  <a:lnTo>
                    <a:pt x="3251453" y="466958"/>
                  </a:lnTo>
                  <a:lnTo>
                    <a:pt x="0" y="466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251453" cy="4764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Excellence and Service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69594" y="139574"/>
            <a:ext cx="1832830" cy="490395"/>
            <a:chOff x="0" y="0"/>
            <a:chExt cx="2443773" cy="6538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3773" cy="653860"/>
            </a:xfrm>
            <a:custGeom>
              <a:avLst/>
              <a:gdLst/>
              <a:ahLst/>
              <a:cxnLst/>
              <a:rect r="r" b="b" t="t" l="l"/>
              <a:pathLst>
                <a:path h="653860" w="2443773">
                  <a:moveTo>
                    <a:pt x="0" y="0"/>
                  </a:moveTo>
                  <a:lnTo>
                    <a:pt x="2443773" y="0"/>
                  </a:lnTo>
                  <a:lnTo>
                    <a:pt x="2443773" y="653860"/>
                  </a:lnTo>
                  <a:lnTo>
                    <a:pt x="0" y="653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443773" cy="7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42"/>
                </a:lnSpc>
              </a:pPr>
              <a:r>
                <a:rPr lang="en-US" sz="127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CHRIST </a:t>
              </a:r>
            </a:p>
            <a:p>
              <a:pPr algn="ctr">
                <a:lnSpc>
                  <a:spcPts val="1688"/>
                </a:lnSpc>
              </a:pPr>
              <a:r>
                <a:rPr lang="en-US" sz="11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(Deemed to be University)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818869" y="3538500"/>
            <a:ext cx="115863" cy="22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4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51837" y="3019340"/>
            <a:ext cx="2338388" cy="63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4"/>
              </a:lnSpc>
              <a:spcBef>
                <a:spcPct val="0"/>
              </a:spcBef>
            </a:pPr>
            <a:r>
              <a:rPr lang="en-US" b="true" sz="3712" strike="noStrike" u="none">
                <a:solidFill>
                  <a:srgbClr val="6666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DAGcCmo4M0M</dc:identifier>
  <dcterms:modified xsi:type="dcterms:W3CDTF">2011-08-01T06:04:30Z</dcterms:modified>
  <cp:revision>1</cp:revision>
  <dc:title>Christ Lavasa Template.pptx.pptx</dc:title>
</cp:coreProperties>
</file>